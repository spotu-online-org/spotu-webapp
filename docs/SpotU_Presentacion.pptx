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F46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0" y="-822960"/>
            <a:ext cx="2560320" cy="2560320"/>
          </a:xfrm>
          <a:prstGeom prst="ellipse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640080" y="3383280"/>
            <a:ext cx="2011680" cy="2011680"/>
          </a:xfrm>
          <a:prstGeom prst="ellipse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943600" y="3840480"/>
            <a:ext cx="1097280" cy="1097280"/>
          </a:xfrm>
          <a:prstGeom prst="ellipse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914400"/>
            <a:ext cx="82296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SpotU</a:t>
            </a:r>
            <a:endParaRPr lang="en-US" sz="8000" dirty="0"/>
          </a:p>
        </p:txBody>
      </p:sp>
      <p:sp>
        <p:nvSpPr>
          <p:cNvPr id="6" name="Text 4"/>
          <p:cNvSpPr/>
          <p:nvPr/>
        </p:nvSpPr>
        <p:spPr>
          <a:xfrm>
            <a:off x="457200" y="214884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C7D2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 spot publicitario ideal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3794760" y="2788920"/>
            <a:ext cx="1554480" cy="54864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14400" y="2971800"/>
            <a:ext cx="73152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marketplace que conecta anunciantes, espacios publicitarios y agencias de marketing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457200" y="46634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18C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spotu.online  ·  MVP en producción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47472"/>
            <a:ext cx="64008" cy="256032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12648" y="347472"/>
            <a:ext cx="7315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PROBLEMA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82296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publicidad fragmentada es un mercado roto</a:t>
            </a:r>
            <a:endParaRPr lang="en-US" sz="3300" dirty="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822960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572768"/>
            <a:ext cx="2606040" cy="2788920"/>
          </a:xfrm>
          <a:prstGeom prst="roundRect">
            <a:avLst>
              <a:gd name="adj" fmla="val 421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21792" y="1737360"/>
            <a:ext cx="411480" cy="411480"/>
          </a:xfrm>
          <a:prstGeom prst="ellipse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21792" y="173736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21792" y="2240280"/>
            <a:ext cx="2286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Imposible de encontrar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21792" y="2706624"/>
            <a:ext cx="22860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restaurante en Monterrey tarda semanas buscando una pantalla LED. Llama, pregunta, negocia uno por uno.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246120" y="1572768"/>
            <a:ext cx="2606040" cy="2788920"/>
          </a:xfrm>
          <a:prstGeom prst="roundRect">
            <a:avLst>
              <a:gd name="adj" fmla="val 421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410712" y="1737360"/>
            <a:ext cx="411480" cy="411480"/>
          </a:xfrm>
          <a:prstGeom prst="ellipse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10712" y="173736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3410712" y="2240280"/>
            <a:ext cx="2286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Capacidad ociosa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3410712" y="2706624"/>
            <a:ext cx="22860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dueño del espacio tiene tiempo vacío que no sabe cómo llenar. Sin visibilidad, sin herramientas.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035040" y="1572768"/>
            <a:ext cx="2606040" cy="2788920"/>
          </a:xfrm>
          <a:prstGeom prst="roundRect">
            <a:avLst>
              <a:gd name="adj" fmla="val 421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199632" y="1737360"/>
            <a:ext cx="411480" cy="411480"/>
          </a:xfrm>
          <a:prstGeom prst="ellipse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199632" y="173736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199632" y="2240280"/>
            <a:ext cx="2286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lugar central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6199632" y="2706624"/>
            <a:ext cx="22860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agencias de marketing tampoco tienen dónde ofrecer sus servicios ni encontrar espacios para sus clientes.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57200" y="4526280"/>
            <a:ext cx="8229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existe un marketplace que conecte oferta y demanda de publicidad de forma simple.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4F46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Solución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SpotU es el marketplace de publicidad de 3 lados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457200" y="1920240"/>
            <a:ext cx="2606040" cy="2834640"/>
          </a:xfrm>
          <a:prstGeom prst="roundRect">
            <a:avLst>
              <a:gd name="adj" fmla="val 5263"/>
            </a:avLst>
          </a:prstGeom>
          <a:solidFill>
            <a:srgbClr val="312E81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2103120"/>
            <a:ext cx="2606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548640" y="2724912"/>
            <a:ext cx="2423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818C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ANUNCIANTES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94360" y="3154680"/>
            <a:ext cx="233172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7D2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Marcas y empresas que buscan donde pautar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246120" y="1920240"/>
            <a:ext cx="2606040" cy="2834640"/>
          </a:xfrm>
          <a:prstGeom prst="roundRect">
            <a:avLst>
              <a:gd name="adj" fmla="val 5263"/>
            </a:avLst>
          </a:prstGeom>
          <a:solidFill>
            <a:srgbClr val="312E81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246120" y="2103120"/>
            <a:ext cx="2606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📍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3337560" y="2724912"/>
            <a:ext cx="2423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ESPACIOS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383280" y="3154680"/>
            <a:ext cx="233172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7D2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Vallas, pantallas LED, podcasts, redes sociales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035040" y="1920240"/>
            <a:ext cx="2606040" cy="2834640"/>
          </a:xfrm>
          <a:prstGeom prst="roundRect">
            <a:avLst>
              <a:gd name="adj" fmla="val 5263"/>
            </a:avLst>
          </a:prstGeom>
          <a:solidFill>
            <a:srgbClr val="312E81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035040" y="2103120"/>
            <a:ext cx="2606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💼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6126480" y="2724912"/>
            <a:ext cx="2423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AGENCIAS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172200" y="3154680"/>
            <a:ext cx="233172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7D2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Expertos que conectan marcas con los mejores espacios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081528" y="3337560"/>
            <a:ext cx="301752" cy="0"/>
          </a:xfrm>
          <a:prstGeom prst="line">
            <a:avLst/>
          </a:prstGeom>
          <a:noFill/>
          <a:ln w="25400">
            <a:solidFill>
              <a:srgbClr val="F9731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870448" y="3337560"/>
            <a:ext cx="301752" cy="0"/>
          </a:xfrm>
          <a:prstGeom prst="line">
            <a:avLst/>
          </a:prstGeom>
          <a:noFill/>
          <a:ln w="25400">
            <a:solidFill>
              <a:srgbClr val="F97316"/>
            </a:solidFill>
            <a:prstDash val="solid"/>
          </a:ln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47472"/>
            <a:ext cx="64008" cy="256032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12648" y="347472"/>
            <a:ext cx="7315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 FUNCIONA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82296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pasos, sin complicaciones</a:t>
            </a:r>
            <a:endParaRPr lang="en-US" sz="3300" dirty="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822960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600200"/>
            <a:ext cx="3977640" cy="1417320"/>
          </a:xfrm>
          <a:prstGeom prst="roundRect">
            <a:avLst>
              <a:gd name="adj" fmla="val 7742"/>
            </a:avLst>
          </a:prstGeom>
          <a:solidFill>
            <a:srgbClr val="EEF2FF"/>
          </a:solidFill>
          <a:ln w="12700">
            <a:solidFill>
              <a:srgbClr val="C7D2F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1764792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1261872" y="1746504"/>
            <a:ext cx="299923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Regístrate y elige tu rol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261872" y="2148840"/>
            <a:ext cx="2999232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Anunciante, espacio publicitario o agencia de marketing.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709160" y="1600200"/>
            <a:ext cx="3977640" cy="1417320"/>
          </a:xfrm>
          <a:prstGeom prst="roundRect">
            <a:avLst>
              <a:gd name="adj" fmla="val 7742"/>
            </a:avLst>
          </a:prstGeom>
          <a:solidFill>
            <a:srgbClr val="FFF7ED"/>
          </a:solidFill>
          <a:ln w="12700">
            <a:solidFill>
              <a:srgbClr val="FED7A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892040" y="1764792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5513832" y="1746504"/>
            <a:ext cx="299923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Publica o busca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513832" y="2148840"/>
            <a:ext cx="2999232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Espacios y agencias publican. Anunciantes navegan el feed o publican una solicitud.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57200" y="3200400"/>
            <a:ext cx="3977640" cy="1417320"/>
          </a:xfrm>
          <a:prstGeom prst="roundRect">
            <a:avLst>
              <a:gd name="adj" fmla="val 7742"/>
            </a:avLst>
          </a:prstGeom>
          <a:solidFill>
            <a:srgbClr val="EEF2FF"/>
          </a:solidFill>
          <a:ln w="12700">
            <a:solidFill>
              <a:srgbClr val="C7D2F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0080" y="3364992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2600" dirty="0"/>
          </a:p>
        </p:txBody>
      </p:sp>
      <p:sp>
        <p:nvSpPr>
          <p:cNvPr id="16" name="Text 14"/>
          <p:cNvSpPr/>
          <p:nvPr/>
        </p:nvSpPr>
        <p:spPr>
          <a:xfrm>
            <a:off x="1261872" y="3346704"/>
            <a:ext cx="299923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Contacto directo por WhatsApp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261872" y="3749040"/>
            <a:ext cx="2999232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clic abre WhatsApp o correo. Sin intermediarios ni tiempos de espera.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709160" y="3200400"/>
            <a:ext cx="3977640" cy="1417320"/>
          </a:xfrm>
          <a:prstGeom prst="roundRect">
            <a:avLst>
              <a:gd name="adj" fmla="val 7742"/>
            </a:avLst>
          </a:prstGeom>
          <a:solidFill>
            <a:srgbClr val="FFF7ED"/>
          </a:solidFill>
          <a:ln w="12700">
            <a:solidFill>
              <a:srgbClr val="FED7A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892040" y="3364992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2600" dirty="0"/>
          </a:p>
        </p:txBody>
      </p:sp>
      <p:sp>
        <p:nvSpPr>
          <p:cNvPr id="20" name="Text 18"/>
          <p:cNvSpPr/>
          <p:nvPr/>
        </p:nvSpPr>
        <p:spPr>
          <a:xfrm>
            <a:off x="5513832" y="3346704"/>
            <a:ext cx="299923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Mide tus resultados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5513832" y="3749040"/>
            <a:ext cx="2999232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 cuántas personas vieron tu publicacion y cuántas te contactaron.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MVP en Producción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858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spotu.online ya está funcionando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536192"/>
            <a:ext cx="274320" cy="274320"/>
          </a:xfrm>
          <a:prstGeom prst="roundRect">
            <a:avLst>
              <a:gd name="adj" fmla="val 16667"/>
            </a:avLst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50876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22960" y="1481328"/>
            <a:ext cx="37947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Registro y autenticación (email + Google)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2185416"/>
            <a:ext cx="274320" cy="274320"/>
          </a:xfrm>
          <a:prstGeom prst="roundRect">
            <a:avLst>
              <a:gd name="adj" fmla="val 16667"/>
            </a:avLst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2157984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22960" y="2130552"/>
            <a:ext cx="37947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 público con búsqueda y filtros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57200" y="2834640"/>
            <a:ext cx="274320" cy="274320"/>
          </a:xfrm>
          <a:prstGeom prst="roundRect">
            <a:avLst>
              <a:gd name="adj" fmla="val 16667"/>
            </a:avLst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2807208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822960" y="2779776"/>
            <a:ext cx="37947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Pagos con Stripe (trial, suscripciones, boost)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57200" y="3483864"/>
            <a:ext cx="274320" cy="274320"/>
          </a:xfrm>
          <a:prstGeom prst="roundRect">
            <a:avLst>
              <a:gd name="adj" fmla="val 16667"/>
            </a:avLst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7200" y="3456432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822960" y="3429000"/>
            <a:ext cx="37947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con estadísticas por publicación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57200" y="4133088"/>
            <a:ext cx="274320" cy="274320"/>
          </a:xfrm>
          <a:prstGeom prst="roundRect">
            <a:avLst>
              <a:gd name="adj" fmla="val 16667"/>
            </a:avLst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4105656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22960" y="4078224"/>
            <a:ext cx="37947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Favoritos y perfiles públicos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4800600" y="1536192"/>
            <a:ext cx="274320" cy="274320"/>
          </a:xfrm>
          <a:prstGeom prst="roundRect">
            <a:avLst>
              <a:gd name="adj" fmla="val 16667"/>
            </a:avLst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800600" y="150876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5166360" y="1481328"/>
            <a:ext cx="37947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Publicaciones multi-paso con imágenes y tags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4800600" y="2185416"/>
            <a:ext cx="274320" cy="274320"/>
          </a:xfrm>
          <a:prstGeom prst="roundRect">
            <a:avLst>
              <a:gd name="adj" fmla="val 16667"/>
            </a:avLst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800600" y="2157984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5166360" y="2130552"/>
            <a:ext cx="37947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Programa de pioneros (1er año gratis)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4800600" y="2834640"/>
            <a:ext cx="274320" cy="274320"/>
          </a:xfrm>
          <a:prstGeom prst="roundRect">
            <a:avLst>
              <a:gd name="adj" fmla="val 16667"/>
            </a:avLst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800600" y="2807208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5166360" y="2779776"/>
            <a:ext cx="37947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Emails transaccionales con Resend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800600" y="3483864"/>
            <a:ext cx="274320" cy="274320"/>
          </a:xfrm>
          <a:prstGeom prst="roundRect">
            <a:avLst>
              <a:gd name="adj" fmla="val 16667"/>
            </a:avLst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800600" y="3456432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5166360" y="3429000"/>
            <a:ext cx="37947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Dominio propio: spotu.online en Vercel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4800600" y="4133088"/>
            <a:ext cx="274320" cy="274320"/>
          </a:xfrm>
          <a:prstGeom prst="roundRect">
            <a:avLst>
              <a:gd name="adj" fmla="val 16667"/>
            </a:avLst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800600" y="4105656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5166360" y="4078224"/>
            <a:ext cx="37947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Cron jobs automáticos (expiración pioneros)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47472"/>
            <a:ext cx="64008" cy="256032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12648" y="347472"/>
            <a:ext cx="7315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82296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oportunidad real y desatendida</a:t>
            </a:r>
            <a:endParaRPr lang="en-US" sz="3300" dirty="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822960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572768"/>
            <a:ext cx="2606040" cy="1600200"/>
          </a:xfrm>
          <a:prstGeom prst="roundRect">
            <a:avLst>
              <a:gd name="adj" fmla="val 6857"/>
            </a:avLst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755648"/>
            <a:ext cx="260604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$40B</a:t>
            </a:r>
            <a:endParaRPr lang="en-US" sz="4200" dirty="0"/>
          </a:p>
        </p:txBody>
      </p:sp>
      <p:sp>
        <p:nvSpPr>
          <p:cNvPr id="8" name="Text 6"/>
          <p:cNvSpPr/>
          <p:nvPr/>
        </p:nvSpPr>
        <p:spPr>
          <a:xfrm>
            <a:off x="548640" y="2505456"/>
            <a:ext cx="2423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7D2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 OOH global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48640" y="2834640"/>
            <a:ext cx="2423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18C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creciendo 5% anual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246120" y="1572768"/>
            <a:ext cx="2606040" cy="1600200"/>
          </a:xfrm>
          <a:prstGeom prst="roundRect">
            <a:avLst>
              <a:gd name="adj" fmla="val 6857"/>
            </a:avLst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246120" y="1755648"/>
            <a:ext cx="260604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$12B</a:t>
            </a:r>
            <a:endParaRPr lang="en-US" sz="4200" dirty="0"/>
          </a:p>
        </p:txBody>
      </p:sp>
      <p:sp>
        <p:nvSpPr>
          <p:cNvPr id="12" name="Text 10"/>
          <p:cNvSpPr/>
          <p:nvPr/>
        </p:nvSpPr>
        <p:spPr>
          <a:xfrm>
            <a:off x="3337560" y="2505456"/>
            <a:ext cx="2423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7D2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Publicidad digital LATAM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337560" y="2834640"/>
            <a:ext cx="2423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18C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creciendo 15% anual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035040" y="1572768"/>
            <a:ext cx="2606040" cy="1600200"/>
          </a:xfrm>
          <a:prstGeom prst="roundRect">
            <a:avLst>
              <a:gd name="adj" fmla="val 6857"/>
            </a:avLst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035040" y="1755648"/>
            <a:ext cx="260604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4200" dirty="0"/>
          </a:p>
        </p:txBody>
      </p:sp>
      <p:sp>
        <p:nvSpPr>
          <p:cNvPr id="16" name="Text 14"/>
          <p:cNvSpPr/>
          <p:nvPr/>
        </p:nvSpPr>
        <p:spPr>
          <a:xfrm>
            <a:off x="6126480" y="2505456"/>
            <a:ext cx="2423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7D2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Mercados objetivo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126480" y="2834640"/>
            <a:ext cx="2423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18C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Colombia · N. México · Florida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57200" y="3310128"/>
            <a:ext cx="2606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Colombia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548640" y="3694176"/>
            <a:ext cx="24231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Hub digital en crecimiento, ecosistema de agencias activo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3246120" y="3310128"/>
            <a:ext cx="2606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Norte de Mexico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3337560" y="3694176"/>
            <a:ext cx="24231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Hub empresarial, nearshoring, alta inversion publicitaria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035040" y="3310128"/>
            <a:ext cx="2606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Florida, USA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6126480" y="3694176"/>
            <a:ext cx="24231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 hispano 5.7M+, puente LATAM-USA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47472"/>
            <a:ext cx="64008" cy="256032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12648" y="347472"/>
            <a:ext cx="7315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 DE NEGOCIO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82296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Suscripcion mensual por publicacion activa</a:t>
            </a:r>
            <a:endParaRPr lang="en-US" sz="3300" dirty="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822960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" y="1572768"/>
            <a:ext cx="3566160" cy="2834640"/>
          </a:xfrm>
          <a:prstGeom prst="roundRect">
            <a:avLst>
              <a:gd name="adj" fmla="val 5806"/>
            </a:avLst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1755648"/>
            <a:ext cx="32004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Espacios y Anunciantes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40080" y="2286000"/>
            <a:ext cx="35661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$4.99</a:t>
            </a:r>
            <a:endParaRPr lang="en-US" sz="5800" dirty="0"/>
          </a:p>
        </p:txBody>
      </p:sp>
      <p:sp>
        <p:nvSpPr>
          <p:cNvPr id="9" name="Text 7"/>
          <p:cNvSpPr/>
          <p:nvPr/>
        </p:nvSpPr>
        <p:spPr>
          <a:xfrm>
            <a:off x="822960" y="3127248"/>
            <a:ext cx="3200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7D2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USD / mes por publicacion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822960" y="3511296"/>
            <a:ext cx="32004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$2.99 boost semanal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937760" y="1572768"/>
            <a:ext cx="3566160" cy="2834640"/>
          </a:xfrm>
          <a:prstGeom prst="roundRect">
            <a:avLst>
              <a:gd name="adj" fmla="val 5806"/>
            </a:avLst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120640" y="1755648"/>
            <a:ext cx="32004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Agencias de Marketing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937760" y="2286000"/>
            <a:ext cx="35661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$9.99</a:t>
            </a:r>
            <a:endParaRPr lang="en-US" sz="5800" dirty="0"/>
          </a:p>
        </p:txBody>
      </p:sp>
      <p:sp>
        <p:nvSpPr>
          <p:cNvPr id="14" name="Text 12"/>
          <p:cNvSpPr/>
          <p:nvPr/>
        </p:nvSpPr>
        <p:spPr>
          <a:xfrm>
            <a:off x="5120640" y="3127248"/>
            <a:ext cx="3200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ED7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USD / mes por publicacion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120640" y="3511296"/>
            <a:ext cx="32004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$4.99 boost semanal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57200" y="4553712"/>
            <a:ext cx="8229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1ra publicacion: 30 dias gratis  ·  Pioneros (primeros 100 usuarios): 1 ano completamente gratis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47472"/>
            <a:ext cx="64008" cy="256032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12648" y="347472"/>
            <a:ext cx="7315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DIFERENCIADORES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82296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 SpotU y no la competencia?</a:t>
            </a:r>
            <a:endParaRPr lang="en-US" sz="3300" dirty="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822960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1517904"/>
            <a:ext cx="5029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Caracteristica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577840" y="1517904"/>
            <a:ext cx="1463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SpotU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132320" y="1517904"/>
            <a:ext cx="1463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Competencia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57200" y="1920240"/>
            <a:ext cx="8229600" cy="41148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94360" y="1984248"/>
            <a:ext cx="4846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Marketplace de 3 lados (anunciantes + espacios + agencias)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5577840" y="1984248"/>
            <a:ext cx="1463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✔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7132320" y="1984248"/>
            <a:ext cx="1463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457200" y="2350008"/>
            <a:ext cx="822960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94360" y="2414016"/>
            <a:ext cx="4846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Espacios fisicos Y digitales en un solo lugar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577840" y="2414016"/>
            <a:ext cx="1463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✔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7132320" y="2414016"/>
            <a:ext cx="1463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457200" y="2779776"/>
            <a:ext cx="8229600" cy="41148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94360" y="2843784"/>
            <a:ext cx="4846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Enfoque en LATAM y mercado hispano USA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5577840" y="2843784"/>
            <a:ext cx="1463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✔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7132320" y="2843784"/>
            <a:ext cx="1463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457200" y="3209544"/>
            <a:ext cx="822960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" y="3273552"/>
            <a:ext cx="4846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Contacto directo por WhatsApp sin intermediarios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5577840" y="3273552"/>
            <a:ext cx="1463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✔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7132320" y="3273552"/>
            <a:ext cx="1463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500" dirty="0"/>
          </a:p>
        </p:txBody>
      </p:sp>
      <p:sp>
        <p:nvSpPr>
          <p:cNvPr id="25" name="Shape 23"/>
          <p:cNvSpPr/>
          <p:nvPr/>
        </p:nvSpPr>
        <p:spPr>
          <a:xfrm>
            <a:off x="457200" y="3639312"/>
            <a:ext cx="8229600" cy="41148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94360" y="3703320"/>
            <a:ext cx="4846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Busqueda semantica con IA (Fase 2)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5577840" y="3703320"/>
            <a:ext cx="1463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✔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7132320" y="3703320"/>
            <a:ext cx="1463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500" dirty="0"/>
          </a:p>
        </p:txBody>
      </p:sp>
      <p:sp>
        <p:nvSpPr>
          <p:cNvPr id="29" name="Shape 27"/>
          <p:cNvSpPr/>
          <p:nvPr/>
        </p:nvSpPr>
        <p:spPr>
          <a:xfrm>
            <a:off x="457200" y="4069080"/>
            <a:ext cx="822960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94360" y="4133088"/>
            <a:ext cx="4846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Precio accesible para pequenas y medianas empresas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5577840" y="4133088"/>
            <a:ext cx="1463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✔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7132320" y="4133088"/>
            <a:ext cx="1463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500" dirty="0"/>
          </a:p>
        </p:txBody>
      </p:sp>
      <p:sp>
        <p:nvSpPr>
          <p:cNvPr id="33" name="Shape 31"/>
          <p:cNvSpPr/>
          <p:nvPr/>
        </p:nvSpPr>
        <p:spPr>
          <a:xfrm>
            <a:off x="457200" y="4498848"/>
            <a:ext cx="8229600" cy="41148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94360" y="4562856"/>
            <a:ext cx="4846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Contratos digitales integrados (Fase 2)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5577840" y="4562856"/>
            <a:ext cx="1463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✔</a:t>
            </a:r>
            <a:endParaRPr lang="en-US" sz="1500" dirty="0"/>
          </a:p>
        </p:txBody>
      </p:sp>
      <p:sp>
        <p:nvSpPr>
          <p:cNvPr id="36" name="Text 34"/>
          <p:cNvSpPr/>
          <p:nvPr/>
        </p:nvSpPr>
        <p:spPr>
          <a:xfrm>
            <a:off x="7132320" y="4562856"/>
            <a:ext cx="1463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4F46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Multiplicador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713232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agencias son el motor de crecimiento del marketplace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719072"/>
            <a:ext cx="8229600" cy="658368"/>
          </a:xfrm>
          <a:prstGeom prst="roundRect">
            <a:avLst>
              <a:gd name="adj" fmla="val 13889"/>
            </a:avLst>
          </a:prstGeom>
          <a:solidFill>
            <a:srgbClr val="312E81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847088"/>
            <a:ext cx="566928" cy="402336"/>
          </a:xfrm>
          <a:prstGeom prst="roundRect">
            <a:avLst>
              <a:gd name="adj" fmla="val 15909"/>
            </a:avLst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94360" y="1847088"/>
            <a:ext cx="56692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x10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298448" y="1874520"/>
            <a:ext cx="7223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0E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agencia con 10 clientes = 10 anunciantes con un solo onboarding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57200" y="2514600"/>
            <a:ext cx="8229600" cy="658368"/>
          </a:xfrm>
          <a:prstGeom prst="roundRect">
            <a:avLst>
              <a:gd name="adj" fmla="val 13889"/>
            </a:avLst>
          </a:prstGeom>
          <a:solidFill>
            <a:srgbClr val="312E81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94360" y="2642616"/>
            <a:ext cx="566928" cy="402336"/>
          </a:xfrm>
          <a:prstGeom prst="roundRect">
            <a:avLst>
              <a:gd name="adj" fmla="val 15909"/>
            </a:avLst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94360" y="2642616"/>
            <a:ext cx="56692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🔒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298448" y="2670048"/>
            <a:ext cx="7223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0E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Alta retencion: una agencia que opera en SpotU no migra facilmente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57200" y="3310128"/>
            <a:ext cx="8229600" cy="658368"/>
          </a:xfrm>
          <a:prstGeom prst="roundRect">
            <a:avLst>
              <a:gd name="adj" fmla="val 13889"/>
            </a:avLst>
          </a:prstGeom>
          <a:solidFill>
            <a:srgbClr val="312E81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94360" y="3438144"/>
            <a:ext cx="566928" cy="402336"/>
          </a:xfrm>
          <a:prstGeom prst="roundRect">
            <a:avLst>
              <a:gd name="adj" fmla="val 15909"/>
            </a:avLst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94360" y="3438144"/>
            <a:ext cx="56692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📈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298448" y="3465576"/>
            <a:ext cx="7223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0E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Profesionalizan la demanda: campanas mejor estructuradas, mas valor para todos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457200" y="4105656"/>
            <a:ext cx="8229600" cy="658368"/>
          </a:xfrm>
          <a:prstGeom prst="roundRect">
            <a:avLst>
              <a:gd name="adj" fmla="val 13889"/>
            </a:avLst>
          </a:prstGeom>
          <a:solidFill>
            <a:srgbClr val="312E81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94360" y="4233672"/>
            <a:ext cx="566928" cy="402336"/>
          </a:xfrm>
          <a:prstGeom prst="roundRect">
            <a:avLst>
              <a:gd name="adj" fmla="val 15909"/>
            </a:avLst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94360" y="4233672"/>
            <a:ext cx="56692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$$$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1298448" y="4261104"/>
            <a:ext cx="7223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0E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Agency ($9.99/mes) — ARPU 2x vs usuario basico, LTV objetivo &gt;$500 USD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47472"/>
            <a:ext cx="64008" cy="256032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12648" y="347472"/>
            <a:ext cx="7315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TRACCION &amp; ROADMAP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82296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MVP funciona. Ahora a crecer.</a:t>
            </a:r>
            <a:endParaRPr lang="en-US" sz="3300" dirty="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822960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24128" y="2359152"/>
            <a:ext cx="7086600" cy="0"/>
          </a:xfrm>
          <a:prstGeom prst="line">
            <a:avLst/>
          </a:prstGeom>
          <a:noFill/>
          <a:ln w="25400">
            <a:solidFill>
              <a:srgbClr val="E2E8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49808" y="2084832"/>
            <a:ext cx="548640" cy="548640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" y="2103120"/>
            <a:ext cx="548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8288" y="276148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HOY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18288" y="3054096"/>
            <a:ext cx="2011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MVP en produccion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4008" y="3474720"/>
            <a:ext cx="192024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spotu.online activo con pagos, auth, feed y dashboard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108960" y="2084832"/>
            <a:ext cx="548640" cy="54864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377440" y="276148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 1-2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2377440" y="3054096"/>
            <a:ext cx="2011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Primeros 100 usuarios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2423160" y="3474720"/>
            <a:ext cx="192024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Onboarding en Colombia, Mexico y Florida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468112" y="2084832"/>
            <a:ext cx="548640" cy="54864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736592" y="276148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 2-3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736592" y="3054096"/>
            <a:ext cx="2011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+ contratos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4782312" y="3474720"/>
            <a:ext cx="192024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Busqueda semantica con Claude API y contratos digitales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7827264" y="2084832"/>
            <a:ext cx="548640" cy="548640"/>
          </a:xfrm>
          <a:prstGeom prst="ellipse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095744" y="276148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 5-6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7095744" y="3054096"/>
            <a:ext cx="2011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$2,000 MRR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7141464" y="3474720"/>
            <a:ext cx="192024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400+ usuarios de pago activos en 3 mercados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57200" y="4572000"/>
            <a:ext cx="8229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Costos operativos &lt; $70 USD/mes  ·  Break-even con solo 15 usuarios de pago  ·  Margen bruto &gt;85%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47472"/>
            <a:ext cx="64008" cy="256032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12648" y="347472"/>
            <a:ext cx="7315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 AHORA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82296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timing es perfecto</a:t>
            </a:r>
            <a:endParaRPr lang="en-US" sz="3300" dirty="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822960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572768"/>
            <a:ext cx="3977640" cy="1481328"/>
          </a:xfrm>
          <a:prstGeom prst="round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C7D2F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40080" y="1755648"/>
            <a:ext cx="384048" cy="384048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1755648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143000" y="1737360"/>
            <a:ext cx="31272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Digitalizacion acelerada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40080" y="2194560"/>
            <a:ext cx="3630168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negocios LATAM migran su presupuesto publicitario a digital. SpotU captura ese movimiento.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709160" y="1572768"/>
            <a:ext cx="3977640" cy="1481328"/>
          </a:xfrm>
          <a:prstGeom prst="round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C7D2F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892040" y="1755648"/>
            <a:ext cx="384048" cy="384048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892040" y="1755648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5394960" y="1737360"/>
            <a:ext cx="31272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Boom del nearshoring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892040" y="2194560"/>
            <a:ext cx="3630168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Mexico atrae empresas que necesitan publicidad local. Nuevo presupuesto, sin plataforma donde gastarlo.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7200" y="3200400"/>
            <a:ext cx="3977640" cy="1481328"/>
          </a:xfrm>
          <a:prstGeom prst="roundRect">
            <a:avLst>
              <a:gd name="adj" fmla="val 7407"/>
            </a:avLst>
          </a:prstGeom>
          <a:solidFill>
            <a:srgbClr val="FFF7ED"/>
          </a:solidFill>
          <a:ln w="12700">
            <a:solidFill>
              <a:srgbClr val="FED7AA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40080" y="3383280"/>
            <a:ext cx="384048" cy="384048"/>
          </a:xfrm>
          <a:prstGeom prst="ellipse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338328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143000" y="3364992"/>
            <a:ext cx="31272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Economia de creadores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640080" y="3822192"/>
            <a:ext cx="3630168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Podcasters, influencers y webs quieren monetizar su audiencia. Son los espacios digitales de SpotU.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4709160" y="3200400"/>
            <a:ext cx="3977640" cy="1481328"/>
          </a:xfrm>
          <a:prstGeom prst="roundRect">
            <a:avLst>
              <a:gd name="adj" fmla="val 7407"/>
            </a:avLst>
          </a:prstGeom>
          <a:solidFill>
            <a:srgbClr val="FFF7ED"/>
          </a:solidFill>
          <a:ln w="12700">
            <a:solidFill>
              <a:srgbClr val="FED7AA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892040" y="3383280"/>
            <a:ext cx="384048" cy="384048"/>
          </a:xfrm>
          <a:prstGeom prst="ellipse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892040" y="338328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94960" y="3364992"/>
            <a:ext cx="31272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hace el matching posible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4892040" y="3822192"/>
            <a:ext cx="3630168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Hoy es viable conectar oferta y demanda con busqueda semantica a bajo costo en toda LATAM.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3730A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589520" y="-731520"/>
            <a:ext cx="2286000" cy="2286000"/>
          </a:xfrm>
          <a:prstGeom prst="ellipse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457200" y="3566160"/>
            <a:ext cx="1828800" cy="1828800"/>
          </a:xfrm>
          <a:prstGeom prst="ellipse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73152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oportunidad es real.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457200" y="146304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timing es ahora.</a:t>
            </a:r>
            <a:endParaRPr lang="en-US" sz="4200" dirty="0"/>
          </a:p>
        </p:txBody>
      </p:sp>
      <p:sp>
        <p:nvSpPr>
          <p:cNvPr id="6" name="Text 4"/>
          <p:cNvSpPr/>
          <p:nvPr/>
        </p:nvSpPr>
        <p:spPr>
          <a:xfrm>
            <a:off x="457200" y="219456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C7D2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ejecucion lo decide todo.</a:t>
            </a:r>
            <a:endParaRPr lang="en-US" sz="4200" dirty="0"/>
          </a:p>
        </p:txBody>
      </p:sp>
      <p:sp>
        <p:nvSpPr>
          <p:cNvPr id="7" name="Shape 5"/>
          <p:cNvSpPr/>
          <p:nvPr/>
        </p:nvSpPr>
        <p:spPr>
          <a:xfrm>
            <a:off x="3291840" y="3063240"/>
            <a:ext cx="2560320" cy="54864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3310128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C7D2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spotu.online   ·   admin@spotu.online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57200" y="3886200"/>
            <a:ext cx="8229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18C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Cesar Emilio Castano Marin  ·  Fundador de SpotU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2026-04-10T17:05:51Z</dcterms:created>
  <dcterms:modified xsi:type="dcterms:W3CDTF">2026-04-10T17:05:51Z</dcterms:modified>
</cp:coreProperties>
</file>