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F4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822960"/>
            <a:ext cx="2560320" cy="256032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640080" y="3383280"/>
            <a:ext cx="2011680" cy="20116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0" y="3840480"/>
            <a:ext cx="1097280" cy="109728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pic>
        <p:nvPicPr>
          <p:cNvPr id="5" name="Image 0" descr="C:\Users\cesar\OneDrive\Escritorio\FREELANCE\SpotU\docs\assets\logo-dark-b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0" y="960120"/>
            <a:ext cx="3657600" cy="11887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spot publicitario ideal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3794760" y="2971800"/>
            <a:ext cx="155448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15468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SMB que conecta anunciantes, espacios publicitarios y agencias de marketing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spotu.online  ·  MVP en producción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64008" cy="2560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34747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900" dirty="0"/>
          </a:p>
        </p:txBody>
      </p:sp>
      <p:pic>
        <p:nvPicPr>
          <p:cNvPr id="4" name="Image 0" descr="C:\Users\cesar\OneDrive\Escritorio\FREELANCE\SpotU\docs\assets\logo-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292608"/>
            <a:ext cx="1371600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SMB, la publicidad fuera de Google y Meta sigue siendo manual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572768"/>
            <a:ext cx="2606040" cy="269748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1792" y="1737360"/>
            <a:ext cx="411480" cy="4114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1737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21792" y="22402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Difícil de encontrar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21792" y="2706624"/>
            <a:ext cx="2286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restaurante en Monterrey termina llamando, preguntando y negociando uno por uno cada espacio que considera.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246120" y="1572768"/>
            <a:ext cx="2606040" cy="269748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10712" y="1737360"/>
            <a:ext cx="411480" cy="4114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10712" y="1737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410712" y="22402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ociosa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410712" y="2706624"/>
            <a:ext cx="2286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dueño del espacio suele tener tiempo vacío que le cuesta llenar sin un canal de distribución claro.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035040" y="1572768"/>
            <a:ext cx="2606040" cy="269748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99632" y="1737360"/>
            <a:ext cx="411480" cy="4114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99632" y="1737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199632" y="22402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Agencias dispersas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199632" y="2706624"/>
            <a:ext cx="2286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Existen directorios de agencias y plataformas OOH por separado, pero pocos puntos de encuentro de los tres lados.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" y="452628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Existen plataformas enterprise y publishers OOH consolidados, pero la franja SMB sigue subatendida.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F4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SpotU es un marketplace de publicidad de 3 lados con foco SMB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2606040" cy="2834640"/>
          </a:xfrm>
          <a:prstGeom prst="roundRect">
            <a:avLst>
              <a:gd name="adj" fmla="val 5263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7320" y="2148840"/>
            <a:ext cx="685800" cy="685800"/>
          </a:xfrm>
          <a:prstGeom prst="ellipse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21488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ANUNCIANTES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3337560"/>
            <a:ext cx="23317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Marcas y empresas que buscan donde pautar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920240"/>
            <a:ext cx="2606040" cy="2834640"/>
          </a:xfrm>
          <a:prstGeom prst="roundRect">
            <a:avLst>
              <a:gd name="adj" fmla="val 5263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2148840"/>
            <a:ext cx="685800" cy="68580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21488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337560" y="29260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83280" y="3337560"/>
            <a:ext cx="23317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Vallas, pantallas LED, podcasts, redes sociales y webs independientes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35040" y="1920240"/>
            <a:ext cx="2606040" cy="2834640"/>
          </a:xfrm>
          <a:prstGeom prst="roundRect">
            <a:avLst>
              <a:gd name="adj" fmla="val 5263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95160" y="2148840"/>
            <a:ext cx="685800" cy="6858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95160" y="21488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126480" y="29260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AGENCIAS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72200" y="3337560"/>
            <a:ext cx="23317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Expertos que conectan marcas con los espacios correctos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81528" y="3337560"/>
            <a:ext cx="301752" cy="0"/>
          </a:xfrm>
          <a:prstGeom prst="line">
            <a:avLst/>
          </a:prstGeom>
          <a:noFill/>
          <a:ln w="25400">
            <a:solidFill>
              <a:srgbClr val="F9731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70448" y="3337560"/>
            <a:ext cx="301752" cy="0"/>
          </a:xfrm>
          <a:prstGeom prst="line">
            <a:avLst/>
          </a:prstGeom>
          <a:noFill/>
          <a:ln w="25400">
            <a:solidFill>
              <a:srgbClr val="F97316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64008" cy="2560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34747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  <a:endParaRPr lang="en-US" sz="900" dirty="0"/>
          </a:p>
        </p:txBody>
      </p:sp>
      <p:pic>
        <p:nvPicPr>
          <p:cNvPr id="4" name="Image 0" descr="C:\Users\cesar\OneDrive\Escritorio\FREELANCE\SpotU\docs\assets\logo-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292608"/>
            <a:ext cx="1371600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pasos, sin complicaciones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600200"/>
            <a:ext cx="3977640" cy="1417320"/>
          </a:xfrm>
          <a:prstGeom prst="roundRect">
            <a:avLst>
              <a:gd name="adj" fmla="val 774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7647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1261872" y="1746504"/>
            <a:ext cx="29992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Regístrate y elige tu rol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261872" y="2148840"/>
            <a:ext cx="2999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Anunciante, espacio publicitario o agencia. También puedes tener varios roles.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09160" y="1600200"/>
            <a:ext cx="3977640" cy="1417320"/>
          </a:xfrm>
          <a:prstGeom prst="roundRect">
            <a:avLst>
              <a:gd name="adj" fmla="val 7742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892040" y="17647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5513832" y="1746504"/>
            <a:ext cx="29992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 o busca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513832" y="2148840"/>
            <a:ext cx="2999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Espacios y agencias publican su oferta. Anunciantes navegan el feed o publican una solicitud.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200400"/>
            <a:ext cx="3977640" cy="1417320"/>
          </a:xfrm>
          <a:prstGeom prst="roundRect">
            <a:avLst>
              <a:gd name="adj" fmla="val 774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3649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1261872" y="3346704"/>
            <a:ext cx="29992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 directo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3749040"/>
            <a:ext cx="2999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clic abre WhatsApp o correo. Sin intermediarios ni tiempos de espera.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709160" y="3200400"/>
            <a:ext cx="3977640" cy="1417320"/>
          </a:xfrm>
          <a:prstGeom prst="roundRect">
            <a:avLst>
              <a:gd name="adj" fmla="val 7742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892040" y="33649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5513832" y="3346704"/>
            <a:ext cx="29992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Mide tus resultados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513832" y="3749040"/>
            <a:ext cx="2999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 y contactos por publicación. Aprendes qué funciona y qué no.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en Producción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spotu.online ya está funcionando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0292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62763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58952" y="162763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3544" y="1627632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80160" y="1618488"/>
            <a:ext cx="40233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spotu.online</a:t>
            </a:r>
            <a:endParaRPr lang="en-US" sz="900" dirty="0"/>
          </a:p>
        </p:txBody>
      </p:sp>
      <p:pic>
        <p:nvPicPr>
          <p:cNvPr id="9" name="Image 0" descr="C:\Users\cesar\OneDrive\Escritorio\FREELANCE\SpotU\docs\assets\site_land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28800"/>
            <a:ext cx="4846320" cy="30175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760720" y="155448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60720" y="15544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108192" y="15087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(email + Google OAuth)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760720" y="196596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60720" y="19659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6108192" y="19202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con búsqueda y filtros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760720" y="237744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760720" y="2377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6108192" y="2331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 Stripe (trial, suscripción, boost)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760720" y="278892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760720" y="278892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6108192" y="27432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con stats por publicación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760720" y="320040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760720" y="320040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108192" y="31546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Favoritos y perfiles públicos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760720" y="361188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760720" y="36118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108192" y="35661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pioneros (250 — 1 año gratis)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760720" y="402336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760720" y="40233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108192" y="39776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Emails transaccionales con Resend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760720" y="443484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760720" y="44348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6108192" y="43891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 jobs (expiración pioneros)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64008" cy="2560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34747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900" dirty="0"/>
          </a:p>
        </p:txBody>
      </p:sp>
      <p:pic>
        <p:nvPicPr>
          <p:cNvPr id="4" name="Image 0" descr="C:\Users\cesar\OneDrive\Escritorio\FREELANCE\SpotU\docs\assets\logo-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292608"/>
            <a:ext cx="1371600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franja SMB con cobertura limitada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572768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1755648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$5.2B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505456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OOH México (mercado)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48640" y="283464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Mordor Intelligence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246120" y="1572768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46120" y="1755648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$1.59B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3337560" y="2505456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OOH LATAM 2024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3337560" y="283464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creciendo ~5% anual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035040" y="1572768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35040" y="1755648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8.3%</a:t>
            </a:r>
            <a:endParaRPr lang="en-US" sz="3800" dirty="0"/>
          </a:p>
        </p:txBody>
      </p:sp>
      <p:sp>
        <p:nvSpPr>
          <p:cNvPr id="17" name="Text 14"/>
          <p:cNvSpPr/>
          <p:nvPr/>
        </p:nvSpPr>
        <p:spPr>
          <a:xfrm>
            <a:off x="6126480" y="2505456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pDOOH LATAM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126480" y="283464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2027 (estimado)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310128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Colombia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48640" y="3694176"/>
            <a:ext cx="2423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digital en crecimiento, $350M en OOH, 75% digital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246120" y="3310128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Norte de México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3337560" y="3694176"/>
            <a:ext cx="2423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empresarial, nearshoring, 65% digital en OOH urbano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035040" y="3310128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Florida, USA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126480" y="3694176"/>
            <a:ext cx="2423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hispano 5.7M+, puente LATAM-USA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57200" y="452628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Apuntamos al SMB que invierte $200–$2,000 USD por campaña — el segmento menos atendido por las plataformas enterprise.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64008" cy="2560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34747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NEGOCIO</a:t>
            </a:r>
            <a:endParaRPr lang="en-US" sz="900" dirty="0"/>
          </a:p>
        </p:txBody>
      </p:sp>
      <p:pic>
        <p:nvPicPr>
          <p:cNvPr id="4" name="Image 0" descr="C:\Users\cesar\OneDrive\Escritorio\FREELANCE\SpotU\docs\assets\logo-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292608"/>
            <a:ext cx="1371600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Suscripción mensual por publicación activa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572768"/>
            <a:ext cx="3566160" cy="2834640"/>
          </a:xfrm>
          <a:prstGeom prst="roundRect">
            <a:avLst>
              <a:gd name="adj" fmla="val 580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755648"/>
            <a:ext cx="3200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Espacios y Anunciantes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228600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$4.99</a:t>
            </a:r>
            <a:endParaRPr lang="en-US" sz="5800" dirty="0"/>
          </a:p>
        </p:txBody>
      </p:sp>
      <p:sp>
        <p:nvSpPr>
          <p:cNvPr id="10" name="Text 7"/>
          <p:cNvSpPr/>
          <p:nvPr/>
        </p:nvSpPr>
        <p:spPr>
          <a:xfrm>
            <a:off x="822960" y="312724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/ mes por publicación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22960" y="3511296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$2.99 boost semanal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937760" y="1572768"/>
            <a:ext cx="3566160" cy="2834640"/>
          </a:xfrm>
          <a:prstGeom prst="roundRect">
            <a:avLst>
              <a:gd name="adj" fmla="val 5806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1755648"/>
            <a:ext cx="3200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Agencias de Marketing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937760" y="228600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$9.99</a:t>
            </a:r>
            <a:endParaRPr lang="en-US" sz="5800" dirty="0"/>
          </a:p>
        </p:txBody>
      </p:sp>
      <p:sp>
        <p:nvSpPr>
          <p:cNvPr id="15" name="Text 12"/>
          <p:cNvSpPr/>
          <p:nvPr/>
        </p:nvSpPr>
        <p:spPr>
          <a:xfrm>
            <a:off x="5120640" y="312724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/ mes por publicación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120640" y="3511296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$4.99 boost semanal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" y="455371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1ra publicación: 30 días gratis  ·  Pioneros (primeros 250 usuarios): 1 año completamente gratis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64008" cy="2560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34747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COMPETITIVO</a:t>
            </a:r>
            <a:endParaRPr lang="en-US" sz="900" dirty="0"/>
          </a:p>
        </p:txBody>
      </p:sp>
      <p:pic>
        <p:nvPicPr>
          <p:cNvPr id="4" name="Image 0" descr="C:\Users\cesar\OneDrive\Escritorio\FREELANCE\SpotU\docs\assets\logo-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292608"/>
            <a:ext cx="1371600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tiene jugadores fuertes. SpotU coexiste con ellos.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554480"/>
            <a:ext cx="3977640" cy="1325880"/>
          </a:xfrm>
          <a:prstGeom prst="roundRect">
            <a:avLst>
              <a:gd name="adj" fmla="val 827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554480"/>
            <a:ext cx="64008" cy="132588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8368" y="166420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Programmatic enterprise (LATAM)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58368" y="1975104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PRODOOH · Hivestack · MiQ + Adsmovil · Place Exchange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58368" y="231343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Anunciantes enterprise, mínimos altos, contratos RFP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709160" y="1554480"/>
            <a:ext cx="3977640" cy="1325880"/>
          </a:xfrm>
          <a:prstGeom prst="roundRect">
            <a:avLst>
              <a:gd name="adj" fmla="val 8276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709160" y="1554480"/>
            <a:ext cx="64008" cy="13258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10328" y="166420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Publishers OOH tradicionales (LATAM)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10328" y="1975104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Publimovil · Latam Outdoor Holding · Samba Digital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910328" y="231343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Operan su propio inventario OOH, no son marketplaces neutrales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7200" y="3063240"/>
            <a:ext cx="3977640" cy="1325880"/>
          </a:xfrm>
          <a:prstGeom prst="roundRect">
            <a:avLst>
              <a:gd name="adj" fmla="val 827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3063240"/>
            <a:ext cx="64008" cy="13258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8368" y="317296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Directorios de agencias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58368" y="3483864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Sortlist · Clutch · Semrush Agencies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58368" y="382219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lado de agencias, sin espacios publicitarios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709160" y="3063240"/>
            <a:ext cx="3977640" cy="1325880"/>
          </a:xfrm>
          <a:prstGeom prst="roundRect">
            <a:avLst>
              <a:gd name="adj" fmla="val 8276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709160" y="3063240"/>
            <a:ext cx="64008" cy="13258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910328" y="317296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SMB OOH (referencia USA)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10328" y="3483864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AdQuick · Billups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910328" y="382219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SMB/self-service en USA — valida la tesis para LATAM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de estos jugadores integra los 3 lados (anunciantes + espacios + agencias) en el segmento SMB con foco LATAM-hispano.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64008" cy="2560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34747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POSICIONAMIENTO</a:t>
            </a:r>
            <a:endParaRPr lang="en-US" sz="900" dirty="0"/>
          </a:p>
        </p:txBody>
      </p:sp>
      <p:pic>
        <p:nvPicPr>
          <p:cNvPr id="4" name="Image 0" descr="C:\Users\cesar\OneDrive\Escritorio\FREELANCE\SpotU\docs\assets\logo-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292608"/>
            <a:ext cx="1371600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Donde encaja SpotU en el ecosistema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572768"/>
            <a:ext cx="8229600" cy="384048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1591056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3200400" y="1591056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SpotU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526280" y="1591056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989320" y="1591056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Publishers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tradicionales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452360" y="1591056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Directorios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agencias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57200" y="1993392"/>
            <a:ext cx="8229600" cy="37490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205740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3 lados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200400" y="205740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526280" y="2057400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989320" y="2057400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452360" y="2057400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57200" y="2386584"/>
            <a:ext cx="82296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48640" y="245059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Espacios físicos + digitales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200400" y="245059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526280" y="2450592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989320" y="2450592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7452360" y="2450592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57200" y="2779776"/>
            <a:ext cx="8229600" cy="37490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48640" y="2843784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Accesible para SMBs ($4-$10/mes)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200400" y="284378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4526280" y="2843784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5989320" y="2843784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7452360" y="2843784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57200" y="3172968"/>
            <a:ext cx="82296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48640" y="3236976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 directo (WhatsApp/email)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3200400" y="3236976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526280" y="3236976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5989320" y="3236976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7452360" y="3236976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57200" y="3566160"/>
            <a:ext cx="8229600" cy="37490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36301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LATAM-hispano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3200400" y="363016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4526280" y="3630168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5989320" y="3630168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2" name="Text 39"/>
          <p:cNvSpPr/>
          <p:nvPr/>
        </p:nvSpPr>
        <p:spPr>
          <a:xfrm>
            <a:off x="7452360" y="3630168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457200" y="3959352"/>
            <a:ext cx="82296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48640" y="402336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con IA (Fase 2)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3200400" y="402336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6" name="Text 43"/>
          <p:cNvSpPr/>
          <p:nvPr/>
        </p:nvSpPr>
        <p:spPr>
          <a:xfrm>
            <a:off x="4526280" y="4023360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47" name="Text 44"/>
          <p:cNvSpPr/>
          <p:nvPr/>
        </p:nvSpPr>
        <p:spPr>
          <a:xfrm>
            <a:off x="5989320" y="4023360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48" name="Text 45"/>
          <p:cNvSpPr/>
          <p:nvPr/>
        </p:nvSpPr>
        <p:spPr>
          <a:xfrm>
            <a:off x="7452360" y="4023360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cubierto    ~ parcial    ✗ no cubierto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F4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Multiplicador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agencias son el motor de crecimiento del marketplace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719072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847088"/>
            <a:ext cx="566928" cy="402336"/>
          </a:xfrm>
          <a:prstGeom prst="roundRect">
            <a:avLst>
              <a:gd name="adj" fmla="val 15909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47088"/>
            <a:ext cx="5669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98448" y="1874520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agencia con 10 clientes = 10 anunciantes con un solo onboarding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2642616"/>
            <a:ext cx="566928" cy="402336"/>
          </a:xfrm>
          <a:prstGeom prst="roundRect">
            <a:avLst>
              <a:gd name="adj" fmla="val 15909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642616"/>
            <a:ext cx="5669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98448" y="2670048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retención: una agencia que opera en SpotU no migra fácilmente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310128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3438144"/>
            <a:ext cx="566928" cy="402336"/>
          </a:xfrm>
          <a:prstGeom prst="roundRect">
            <a:avLst>
              <a:gd name="adj" fmla="val 15909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438144"/>
            <a:ext cx="5669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98448" y="3465576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Profesionalizan la demanda: campañas mejor estructuradas, más valor para todos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105656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4233672"/>
            <a:ext cx="566928" cy="402336"/>
          </a:xfrm>
          <a:prstGeom prst="roundRect">
            <a:avLst>
              <a:gd name="adj" fmla="val 15909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233672"/>
            <a:ext cx="5669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98448" y="4261104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Agency ($9.99/mes) — ARPU 2x vs usuario básico, LTV objetivo &gt;$500 USD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64008" cy="2560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34747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TRACCIÓN &amp; ROADMAP</a:t>
            </a:r>
            <a:endParaRPr lang="en-US" sz="900" dirty="0"/>
          </a:p>
        </p:txBody>
      </p:sp>
      <p:pic>
        <p:nvPicPr>
          <p:cNvPr id="4" name="Image 0" descr="C:\Users\cesar\OneDrive\Escritorio\FREELANCE\SpotU\docs\assets\logo-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292608"/>
            <a:ext cx="1371600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MVP funciona. Ahora a crecer.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24128" y="2359152"/>
            <a:ext cx="7086600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49808" y="2084832"/>
            <a:ext cx="548640" cy="5486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212140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8288" y="276148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8288" y="305409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en producción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" y="3474720"/>
            <a:ext cx="19202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spotu.online activo con pagos, auth, feed y dashboard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108960" y="2084832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377440" y="276148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1-2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2377440" y="305409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Primeros 250 pioneros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423160" y="3474720"/>
            <a:ext cx="19202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en Colombia, México y Florida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68112" y="2084832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736592" y="276148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2-3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736592" y="305409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+ contratos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782312" y="3474720"/>
            <a:ext cx="19202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semántica con Claude API y contratos digitales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827264" y="2084832"/>
            <a:ext cx="548640" cy="5486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095744" y="276148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5-6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095744" y="305409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$2,000 MRR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141464" y="3474720"/>
            <a:ext cx="19202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400+ usuarios de pago activos en 3 mercados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57200" y="45720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Costos operativos &lt; $70 USD/mes  ·  Break-even con 15 usuarios de pago  ·  Margen bruto &gt;85%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64008" cy="2560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34747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AHORA</a:t>
            </a:r>
            <a:endParaRPr lang="en-US" sz="900" dirty="0"/>
          </a:p>
        </p:txBody>
      </p:sp>
      <p:pic>
        <p:nvPicPr>
          <p:cNvPr id="4" name="Image 0" descr="C:\Users\cesar\OneDrive\Escritorio\FREELANCE\SpotU\docs\assets\logo-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292608"/>
            <a:ext cx="1371600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timing es favorable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572768"/>
            <a:ext cx="3977640" cy="1481328"/>
          </a:xfrm>
          <a:prstGeom prst="round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755648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7556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43000" y="1737360"/>
            <a:ext cx="3127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Digitalización SMB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0080" y="2194560"/>
            <a:ext cx="36301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negocios pequeños y medianos LATAM están migrando presupuesto publicitario a canales medibles y locales.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709160" y="1572768"/>
            <a:ext cx="3977640" cy="1481328"/>
          </a:xfrm>
          <a:prstGeom prst="round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92040" y="1755648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92040" y="17556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394960" y="1737360"/>
            <a:ext cx="3127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Boom del nearshoring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892040" y="2194560"/>
            <a:ext cx="36301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México atrae empresas que necesitan publicidad local. Nuevo presupuesto en busca de canales de distribución.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3200400"/>
            <a:ext cx="3977640" cy="1481328"/>
          </a:xfrm>
          <a:prstGeom prst="roundRect">
            <a:avLst>
              <a:gd name="adj" fmla="val 7407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0080" y="3383280"/>
            <a:ext cx="384048" cy="38404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3383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43000" y="3364992"/>
            <a:ext cx="3127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Economía de creadores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0080" y="3822192"/>
            <a:ext cx="36301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Podcasters, influencers y webs quieren monetizar su audiencia. Son los espacios digitales independientes de SpotU.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709160" y="3200400"/>
            <a:ext cx="3977640" cy="1481328"/>
          </a:xfrm>
          <a:prstGeom prst="roundRect">
            <a:avLst>
              <a:gd name="adj" fmla="val 7407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892040" y="3383280"/>
            <a:ext cx="384048" cy="38404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892040" y="3383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5394960" y="3364992"/>
            <a:ext cx="3127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accesible para matching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892040" y="3822192"/>
            <a:ext cx="36301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es viable conectar oferta y demanda con búsqueda semántica a bajo costo en toda LATAM.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730A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0" y="-731520"/>
            <a:ext cx="2286000" cy="228600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457200" y="3566160"/>
            <a:ext cx="1828800" cy="182880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4" name="Image 0" descr="C:\Users\cesar\OneDrive\Escritorio\FREELANCE\SpotU\docs\assets\logo-dark-b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0" y="365760"/>
            <a:ext cx="182880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una franja del mercado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aún no encuentra su lugar.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Construyamos ese lugar juntos.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3291840" y="3246120"/>
            <a:ext cx="256032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4564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spotu.online   ·   admin@spotu.online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402336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Cesar Emilio Castaño Marin  ·  Fundador de SpotU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2026-04-27T17:34:49Z</dcterms:created>
  <dcterms:modified xsi:type="dcterms:W3CDTF">2026-04-27T17:34:49Z</dcterms:modified>
</cp:coreProperties>
</file>