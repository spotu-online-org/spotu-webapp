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49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822960"/>
            <a:ext cx="2560320" cy="25603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640080" y="3383280"/>
            <a:ext cx="2011680" cy="20116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943600" y="3840480"/>
            <a:ext cx="1097280" cy="10972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spot publicitario ideal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794760" y="2971800"/>
            <a:ext cx="1554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SMB que conecta anunciantes, espacios </a:t>
            </a:r>
            <a:r>
              <a:rPr lang="en-US" sz="15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publicitarios</a:t>
            </a: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agencias de marketing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 ·  MVP en producción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B72E945-820D-1D07-1362-6005BDD2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050" y="678675"/>
            <a:ext cx="4303899" cy="2347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SMB, la publicidad fuera de Google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Meta sigue siendo manual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621792" y="17373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21792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encontrar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restaurante en Monterrey termina llamando, preguntando y negociando uno por uno cada espacio que considera.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572768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3410712" y="17373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3410712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10712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ociosa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1071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del espacio suele tener tiempo vacío que le cuesta llenar sin un canal de distribución claro.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1572768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6199632" y="17373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199632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99632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dispersas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9963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directorios de agencias y plataformas OOH por separado, pero pocos puntos de encuentro de los tres lados.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plataformas enterprise y publishers OOH consolidados, pero la franja SMB sigue subatendida.</a:t>
            </a:r>
            <a:endParaRPr lang="en-US" sz="13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0CE588E5-E2D0-9F8E-1842-E480299CB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 es un </a:t>
            </a: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publicidad de 3 lados con foco SMB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417320" y="2148840"/>
            <a:ext cx="685800" cy="6858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41732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ANUNCIANTES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y empresas que buscan donde pautar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685800" cy="6858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20624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3375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Vallas, pantallas LED, podcasts, redes sociales y webs independientes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06040" cy="2834640"/>
          </a:xfrm>
          <a:prstGeom prst="roundRect">
            <a:avLst>
              <a:gd name="adj" fmla="val 5263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995160" y="2148840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99516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3375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 que conectan marcas con los espacios correctos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81528" y="3337560"/>
            <a:ext cx="30175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870448" y="3337560"/>
            <a:ext cx="30175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pasos, sin complicaciones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640080" y="176479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261872" y="17465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Regístrate y elige tu rol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61872" y="21488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Anunciante, espacio publicitario o agencia. También puedes tener varios roles.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6002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892040" y="176479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513832" y="17465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o busca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13832" y="21488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agencias publican su oferta. Anunciantes navegan el feed o publican una solicitud.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40080" y="336499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261872" y="33467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37490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abre WhatsApp o correo. Sin intermediarios ni tiempos de espera.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9160" y="320040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892040" y="336499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513832" y="3346704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tus resultados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513832" y="374904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y contactos por publicación. Aprendes qué funciona y qué no.</a:t>
            </a:r>
            <a:endParaRPr lang="en-US" sz="12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DD34E98-0867-F2CF-64EF-0925A1455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ya está funcionando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58952" y="16276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23544" y="16276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</a:t>
            </a:r>
            <a:endParaRPr lang="en-US" sz="900" dirty="0"/>
          </a:p>
        </p:txBody>
      </p:sp>
      <p:pic>
        <p:nvPicPr>
          <p:cNvPr id="9" name="Image 0" descr="C:\Users\cesar\OneDrive\Escritorio\FREELANCE\SpotU\docs\assets\site_land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4846320" cy="3017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08192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(email + Google OAuth)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08192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con búsqueda y filtros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08192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Stripe (trial, suscripción, boost)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08192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stats por publicación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08192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y perfiles públicos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08192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pioneros (250 — 1 año gratis)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108192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transaccionales con Resend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108192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(expiración pioneros)</a:t>
            </a:r>
            <a:endParaRPr lang="en-US" sz="1200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D9B4DBCF-7F24-02F6-C3D9-DBEBB9EB1CEC}"/>
              </a:ext>
            </a:extLst>
          </p:cNvPr>
          <p:cNvGrpSpPr/>
          <p:nvPr/>
        </p:nvGrpSpPr>
        <p:grpSpPr>
          <a:xfrm>
            <a:off x="5687195" y="1554776"/>
            <a:ext cx="347472" cy="259764"/>
            <a:chOff x="5760720" y="1550748"/>
            <a:chExt cx="347472" cy="259764"/>
          </a:xfrm>
        </p:grpSpPr>
        <p:sp>
          <p:nvSpPr>
            <p:cNvPr id="35" name="Shape 7">
              <a:extLst>
                <a:ext uri="{FF2B5EF4-FFF2-40B4-BE49-F238E27FC236}">
                  <a16:creationId xmlns:a16="http://schemas.microsoft.com/office/drawing/2014/main" id="{EE7C22C6-F76A-6CF3-5616-191AED48014C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36" name="Text 8">
              <a:extLst>
                <a:ext uri="{FF2B5EF4-FFF2-40B4-BE49-F238E27FC236}">
                  <a16:creationId xmlns:a16="http://schemas.microsoft.com/office/drawing/2014/main" id="{A821D619-E121-110B-10E1-D961309077D8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1DE49714-E54A-E6BB-7E57-BEE026905619}"/>
              </a:ext>
            </a:extLst>
          </p:cNvPr>
          <p:cNvGrpSpPr/>
          <p:nvPr/>
        </p:nvGrpSpPr>
        <p:grpSpPr>
          <a:xfrm>
            <a:off x="5687195" y="1967420"/>
            <a:ext cx="347472" cy="259764"/>
            <a:chOff x="5760720" y="1550748"/>
            <a:chExt cx="347472" cy="259764"/>
          </a:xfrm>
        </p:grpSpPr>
        <p:sp>
          <p:nvSpPr>
            <p:cNvPr id="38" name="Shape 7">
              <a:extLst>
                <a:ext uri="{FF2B5EF4-FFF2-40B4-BE49-F238E27FC236}">
                  <a16:creationId xmlns:a16="http://schemas.microsoft.com/office/drawing/2014/main" id="{A4C497AB-A50A-E329-164C-550E47FFA3B5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FA69E69E-7DBB-B055-D2DE-9291C31285CA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0E11298A-85DC-F70D-9383-8F0409FD9AEB}"/>
              </a:ext>
            </a:extLst>
          </p:cNvPr>
          <p:cNvGrpSpPr/>
          <p:nvPr/>
        </p:nvGrpSpPr>
        <p:grpSpPr>
          <a:xfrm>
            <a:off x="5687195" y="2380064"/>
            <a:ext cx="347472" cy="259764"/>
            <a:chOff x="5760720" y="1550748"/>
            <a:chExt cx="347472" cy="259764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3C03007A-E637-81F5-8E34-1FB01BBCEB71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425BD244-8D75-744B-175D-7C74AF455A76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FEE0418A-EBE8-904B-3594-F021CC8D445D}"/>
              </a:ext>
            </a:extLst>
          </p:cNvPr>
          <p:cNvGrpSpPr/>
          <p:nvPr/>
        </p:nvGrpSpPr>
        <p:grpSpPr>
          <a:xfrm>
            <a:off x="5687195" y="2792708"/>
            <a:ext cx="347472" cy="259764"/>
            <a:chOff x="5760720" y="1550748"/>
            <a:chExt cx="347472" cy="259764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5DC4A60-5682-6443-4B26-219EB41AD99E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258CF8AB-8BED-4233-E99D-DBF7B46A2904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08F4701B-D05E-E379-0815-9C6664163BDB}"/>
              </a:ext>
            </a:extLst>
          </p:cNvPr>
          <p:cNvGrpSpPr/>
          <p:nvPr/>
        </p:nvGrpSpPr>
        <p:grpSpPr>
          <a:xfrm>
            <a:off x="5687195" y="3205352"/>
            <a:ext cx="347472" cy="259764"/>
            <a:chOff x="5760720" y="1550748"/>
            <a:chExt cx="347472" cy="259764"/>
          </a:xfrm>
        </p:grpSpPr>
        <p:sp>
          <p:nvSpPr>
            <p:cNvPr id="47" name="Shape 7">
              <a:extLst>
                <a:ext uri="{FF2B5EF4-FFF2-40B4-BE49-F238E27FC236}">
                  <a16:creationId xmlns:a16="http://schemas.microsoft.com/office/drawing/2014/main" id="{ED09ABEB-0DED-A45D-4091-CF3080C5D51C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48" name="Text 8">
              <a:extLst>
                <a:ext uri="{FF2B5EF4-FFF2-40B4-BE49-F238E27FC236}">
                  <a16:creationId xmlns:a16="http://schemas.microsoft.com/office/drawing/2014/main" id="{4CE1FEA8-3FFF-16C6-8E85-728DB055D381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3D50C493-7FFF-5FCC-680C-E6D96A019C74}"/>
              </a:ext>
            </a:extLst>
          </p:cNvPr>
          <p:cNvGrpSpPr/>
          <p:nvPr/>
        </p:nvGrpSpPr>
        <p:grpSpPr>
          <a:xfrm>
            <a:off x="5687195" y="3617996"/>
            <a:ext cx="347472" cy="259764"/>
            <a:chOff x="5760720" y="1550748"/>
            <a:chExt cx="347472" cy="259764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FDDD173D-0859-567F-4442-2E09E8A3693E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6CD4B2F9-5691-1723-5884-8A5468211A78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3FB5497F-846B-F237-399F-EB7CB90D40E7}"/>
              </a:ext>
            </a:extLst>
          </p:cNvPr>
          <p:cNvGrpSpPr/>
          <p:nvPr/>
        </p:nvGrpSpPr>
        <p:grpSpPr>
          <a:xfrm>
            <a:off x="5687195" y="4030640"/>
            <a:ext cx="347472" cy="259764"/>
            <a:chOff x="5760720" y="1550748"/>
            <a:chExt cx="347472" cy="259764"/>
          </a:xfrm>
        </p:grpSpPr>
        <p:sp>
          <p:nvSpPr>
            <p:cNvPr id="53" name="Shape 7">
              <a:extLst>
                <a:ext uri="{FF2B5EF4-FFF2-40B4-BE49-F238E27FC236}">
                  <a16:creationId xmlns:a16="http://schemas.microsoft.com/office/drawing/2014/main" id="{ACE5C0FB-D642-7E7D-69ED-E6D6FFD2B2A9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54" name="Text 8">
              <a:extLst>
                <a:ext uri="{FF2B5EF4-FFF2-40B4-BE49-F238E27FC236}">
                  <a16:creationId xmlns:a16="http://schemas.microsoft.com/office/drawing/2014/main" id="{19AABF50-2681-9DDB-6219-64F56EDEBF43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5202F08A-ED61-9B8C-8AD3-F5EB832DD790}"/>
              </a:ext>
            </a:extLst>
          </p:cNvPr>
          <p:cNvGrpSpPr/>
          <p:nvPr/>
        </p:nvGrpSpPr>
        <p:grpSpPr>
          <a:xfrm>
            <a:off x="5687195" y="4443285"/>
            <a:ext cx="347472" cy="259764"/>
            <a:chOff x="5760720" y="1550748"/>
            <a:chExt cx="347472" cy="259764"/>
          </a:xfrm>
        </p:grpSpPr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C55BFE77-B7E0-C91E-3A8B-A37959A10A7C}"/>
                </a:ext>
              </a:extLst>
            </p:cNvPr>
            <p:cNvSpPr/>
            <p:nvPr/>
          </p:nvSpPr>
          <p:spPr>
            <a:xfrm>
              <a:off x="5760720" y="1554480"/>
              <a:ext cx="347472" cy="256032"/>
            </a:xfrm>
            <a:prstGeom prst="roundRect">
              <a:avLst>
                <a:gd name="adj" fmla="val 1785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CO" sz="1600" dirty="0"/>
            </a:p>
          </p:txBody>
        </p:sp>
        <p:sp>
          <p:nvSpPr>
            <p:cNvPr id="57" name="Text 8">
              <a:extLst>
                <a:ext uri="{FF2B5EF4-FFF2-40B4-BE49-F238E27FC236}">
                  <a16:creationId xmlns:a16="http://schemas.microsoft.com/office/drawing/2014/main" id="{57D85F29-D9B7-5810-8761-BAE0E958BF64}"/>
                </a:ext>
              </a:extLst>
            </p:cNvPr>
            <p:cNvSpPr/>
            <p:nvPr/>
          </p:nvSpPr>
          <p:spPr>
            <a:xfrm>
              <a:off x="5760720" y="1550748"/>
              <a:ext cx="3474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OK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franja SMB con cobertura limitada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57200" y="17556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$5.2B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50545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OOH México (mercado)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Mordor Intelligence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572768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246120" y="17556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$1.59B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337560" y="250545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OOH LATAM 2024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2834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creciendo ~5% anual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1572768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035040" y="175564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126480" y="250545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pDOOH LATAM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2834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2027 (estimado)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3694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digital en crecimiento, $350M en OOH, 75% digital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4612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de México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37560" y="3694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empresarial, nearshoring, 65% digital en OOH urbano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3504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Florida, USA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26480" y="36941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hispano 5.7M+, puente LATAM-USA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Apuntamos al SMB que invierte $200–$2,000 USD por campaña — el segmento menos atendido por las plataformas enterprise.</a:t>
            </a:r>
            <a:endParaRPr lang="en-US" sz="11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412979D-0B72-721B-38BB-387F508E8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por publicación activa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640080" y="1572768"/>
            <a:ext cx="3566160" cy="2834640"/>
          </a:xfrm>
          <a:prstGeom prst="roundRect">
            <a:avLst>
              <a:gd name="adj" fmla="val 580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822960" y="17556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Anunciantes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</a:t>
            </a:r>
            <a:endParaRPr lang="en-US" sz="5800" dirty="0"/>
          </a:p>
        </p:txBody>
      </p:sp>
      <p:sp>
        <p:nvSpPr>
          <p:cNvPr id="10" name="Text 7"/>
          <p:cNvSpPr/>
          <p:nvPr/>
        </p:nvSpPr>
        <p:spPr>
          <a:xfrm>
            <a:off x="822960" y="3127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 por publicación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51129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$2.99 boost semanal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1572768"/>
            <a:ext cx="3566160" cy="2834640"/>
          </a:xfrm>
          <a:prstGeom prst="roundRect">
            <a:avLst>
              <a:gd name="adj" fmla="val 580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120640" y="17556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de Marketing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5800" dirty="0"/>
          </a:p>
        </p:txBody>
      </p:sp>
      <p:sp>
        <p:nvSpPr>
          <p:cNvPr id="15" name="Text 12"/>
          <p:cNvSpPr/>
          <p:nvPr/>
        </p:nvSpPr>
        <p:spPr>
          <a:xfrm>
            <a:off x="5120640" y="3127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 por publicación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51129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$4.99 boost semanal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1ra publicación: 30 días gratis  ·  Pioneros (primeros 250 usuarios): 1 año completamente gratis</a:t>
            </a:r>
            <a:endParaRPr lang="en-US" sz="12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EF7DF71-B617-B7B9-6301-CF0EC4E62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COMPETITIVO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tiene jugadores fuertes. 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</a:t>
            </a: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coexiste con ellos.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64008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58368" y="1664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enterprise (LATAM)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197510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PRODOOH · Hivestack · MiQ + Adsmovil · Place Exchange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Anunciantes enterprise, mínimos altos, contratos RFP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554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709160" y="1554480"/>
            <a:ext cx="64008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910328" y="1664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OOH tradicionales (LATAM)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10328" y="197510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Publimovil · Latam Outdoor Holding · Samba Digital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10328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 su propio inventario OOH, no son marketplaces neutrales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457200" y="3063240"/>
            <a:ext cx="6400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58368" y="3172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 de agencias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" y="34838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Sortlist · Clutch · Semrush Agencies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" y="3822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lado de agencias, sin espacios publicitarios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306324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4709160" y="306324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4910328" y="3172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SMB OOH (referencia USA)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10328" y="34838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AdQuick · Billups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10328" y="3822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SMB/self-service en USA — valida la tesis para LATAM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jugadores integra los 3 lados (anunciantes + espacios + agencias) en el segmento SMB con foco LATAM-hispano.</a:t>
            </a:r>
            <a:endParaRPr lang="en-US" sz="11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D5FD69AE-5DF3-62BF-6E9F-B63A83E15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encaja SpotU en el ecosistema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8229600" cy="3840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48640" y="15910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0" y="15910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26280" y="15910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89320" y="15910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52360" y="15910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agencias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822960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548640" y="2057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3 lados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0" y="20574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26280" y="2057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89320" y="2057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52360" y="2057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2386584"/>
            <a:ext cx="82296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48640" y="24505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físicos + digitales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00400" y="2450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26280" y="245059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89320" y="245059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52360" y="245059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2779776"/>
            <a:ext cx="822960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548640" y="28437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para SMBs ($4-$10/mes)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00400" y="28437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26280" y="28437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989320" y="28437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452360" y="28437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7200" y="3172968"/>
            <a:ext cx="82296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548640" y="32369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(WhatsApp/email)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200400" y="32369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26280" y="32369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989320" y="32369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452360" y="32369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57200" y="3566160"/>
            <a:ext cx="822960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548640" y="36301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LATAM-hispano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200400" y="36301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526280" y="36301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989320" y="36301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452360" y="36301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57200" y="3959352"/>
            <a:ext cx="82296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1"/>
          <p:cNvSpPr/>
          <p:nvPr/>
        </p:nvSpPr>
        <p:spPr>
          <a:xfrm>
            <a:off x="548640" y="4023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con IA (Fase 2)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200400" y="4023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4526280" y="40233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5989320" y="40233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452360" y="40233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cubierto    ~ parcial    ✗ no cubierto</a:t>
            </a:r>
            <a:endParaRPr lang="en-US" sz="1000" dirty="0"/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FFF9E574-0402-E31F-710C-0F0467BFB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Multiplicador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agencias son el motor de crecimiento del marketplace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184708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87452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agencia con 10 clientes = 10 anunciantes con un solo onboarding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594360" y="2642616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2642616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67004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retención: una agencia que opera en SpotU no migra fácilmente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94360" y="3438144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" y="3438144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346557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Profesionalizan la demanda: campañas mejor estructuradas, más valor para todos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94360" y="4233672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94360" y="4233672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98448" y="426110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Agency ($9.99/mes) — ARPU 2x vs usuario básico, LTV objetivo &gt;$500 USD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están construyendo SpotU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39776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783080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Emilio Castaño Marin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83080" y="2313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9260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visión, producto y estrategia. Construyó el MVP completo: plataforma en producción con autenticación, publicaciones, pagos Stripe, emails y branding.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600200"/>
            <a:ext cx="39776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983480" y="1874520"/>
            <a:ext cx="914400" cy="9144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498348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035040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 Ossa Cárdenas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35040" y="2313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Software en Jefe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83480" y="29260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de Cesar en Smash Vision y co-fundador técnico de SpotU. Lidera arquitectura, escalabilidad e integración de las funcionalidades de Fase 2 (IA + contratos).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48640" y="39867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de equity entre el equipo y nuevos socios — aún por definir formalmente.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sumar:  growth/ventas  ·  red en agencias LATAM  ·  capital de arranque</a:t>
            </a:r>
            <a:endParaRPr lang="en-US" sz="12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9A2F477-015A-E706-61D0-88CC5F3FE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 &amp; ROADMAP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funciona. Ahora a crecer.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024128" y="2359152"/>
            <a:ext cx="7086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749808" y="208483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749808" y="2121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 producción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activo con pagos, auth, feed y dashboard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0" y="2084832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2377440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1-2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377440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250 pioneros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423160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 Colombia, México y Florida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68112" y="2084832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4736592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2-3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36592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contratos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82312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con Claude API y contratos digitales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27264" y="2084832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7095744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5-6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95744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MRR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41464" y="3474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usuarios de pago activos en 3 mercados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 &lt; $70 USD/mes  ·  Break-even con 15 usuarios de pago  ·  Margen bruto &gt;85%</a:t>
            </a:r>
            <a:endParaRPr lang="en-US" sz="11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CABF495F-FE14-98CD-772B-83292D6A7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640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timing es favorable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640080" y="175564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40080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73736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SMB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194560"/>
            <a:ext cx="3630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negocios pequeños y medianos LATAM están migrando presupuesto publicitario a canales medibles y locales.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572768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892040" y="175564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892040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94960" y="173736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del nearshoring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92040" y="2194560"/>
            <a:ext cx="3630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atrae empresas que necesitan publicidad local. Nuevo presupuesto en busca de canales de distribución.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200400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336499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 creadores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3822192"/>
            <a:ext cx="3630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Podcasters, influencers y webs quieren monetizar su audiencia. Son los espacios digitales independientes de SpotU.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09160" y="3200400"/>
            <a:ext cx="3977640" cy="1481328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4892040" y="3383280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48920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336499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accesible para matching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3822192"/>
            <a:ext cx="3630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viable conectar oferta y demanda con búsqueda semántica a bajo costo en toda LATAM.</a:t>
            </a:r>
            <a:endParaRPr lang="en-US" sz="12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9450B79F-6AA2-B988-D284-37E02CAAE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43810"/>
            <a:ext cx="1216152" cy="6633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731520"/>
            <a:ext cx="2286000" cy="22860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457200" y="3566160"/>
            <a:ext cx="1828800" cy="18288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una franja del mercado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aún no encuentra su lugar.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Construyamos ese lugar juntos.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291840" y="3246120"/>
            <a:ext cx="25603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5720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spotu.online   ·   admin@spotu.online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Emilio Castaño Marin  ·  Fundador de SpotU</a:t>
            </a:r>
            <a:endParaRPr lang="en-US" sz="13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80600B3-A140-6013-A2A9-E258DADD6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779" y="134839"/>
            <a:ext cx="2560320" cy="13967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1075</Words>
  <Application>Microsoft Office PowerPoint</Application>
  <PresentationFormat>Presentación en pantalla (16:9)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Usuario</cp:lastModifiedBy>
  <cp:revision>4</cp:revision>
  <dcterms:created xsi:type="dcterms:W3CDTF">2026-04-27T18:19:42Z</dcterms:created>
  <dcterms:modified xsi:type="dcterms:W3CDTF">2026-04-27T18:48:41Z</dcterms:modified>
</cp:coreProperties>
</file>